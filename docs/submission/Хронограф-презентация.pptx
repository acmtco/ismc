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69" r:id="rId17"/>
    <p:sldId id="266" r:id="rId14"/>
    <p:sldId id="275" r:id="rId23"/>
    <p:sldId id="274" r:id="rId22"/>
    <p:sldId id="273" r:id="rId21"/>
    <p:sldId id="295" r:id="rId47"/>
    <p:sldId id="268" r:id="rId16"/>
    <p:sldId id="294" r:id="rId46"/>
    <p:sldId id="271" r:id="rId19"/>
    <p:sldId id="272" r:id="rId20"/>
    <p:sldId id="276" r:id="rId24"/>
    <p:sldId id="293" r:id="rId45"/>
    <p:sldId id="296" r:id="rId48"/>
    <p:sldId id="279" r:id="rId27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14" Type="http://schemas.openxmlformats.org/officeDocument/2006/relationships/slide" Target="slides/slide2.xml"/><Relationship Id="rId16" Type="http://schemas.openxmlformats.org/officeDocument/2006/relationships/slide" Target="slides/slide7.xml"/><Relationship Id="rId17" Type="http://schemas.openxmlformats.org/officeDocument/2006/relationships/slide" Target="slides/slide1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5.xml"/><Relationship Id="rId22" Type="http://schemas.openxmlformats.org/officeDocument/2006/relationships/slide" Target="slides/slide4.xml"/><Relationship Id="rId23" Type="http://schemas.openxmlformats.org/officeDocument/2006/relationships/slide" Target="slides/slide3.xml"/><Relationship Id="rId24" Type="http://schemas.openxmlformats.org/officeDocument/2006/relationships/slide" Target="slides/slide11.xml"/><Relationship Id="rId27" Type="http://schemas.openxmlformats.org/officeDocument/2006/relationships/slide" Target="slides/slide14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Relationship Id="rId45" Type="http://schemas.openxmlformats.org/officeDocument/2006/relationships/slide" Target="slides/slide12.xml"/><Relationship Id="rId46" Type="http://schemas.openxmlformats.org/officeDocument/2006/relationships/slide" Target="slides/slide8.xml"/><Relationship Id="rId47" Type="http://schemas.openxmlformats.org/officeDocument/2006/relationships/slide" Target="slides/slide6.xml"/><Relationship Id="rId48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688"/>
          <c:y val="0.126935"/>
          <c:w val="0.926086"/>
          <c:h val="0.6674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Машино-часы присутствия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Самосвал</c:v>
                </c:pt>
                <c:pt idx="1">
                  <c:v>Экскаватор</c:v>
                </c:pt>
                <c:pt idx="2">
                  <c:v>Погрузчик</c:v>
                </c:pt>
                <c:pt idx="3">
                  <c:v>Башенный кран</c:v>
                </c:pt>
                <c:pt idx="4">
                  <c:v>Автокран</c:v>
                </c:pt>
                <c:pt idx="5">
                  <c:v>Бульдозер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841</c:v>
                </c:pt>
                <c:pt idx="1">
                  <c:v>344</c:v>
                </c:pt>
                <c:pt idx="2">
                  <c:v>270</c:v>
                </c:pt>
                <c:pt idx="3">
                  <c:v>268</c:v>
                </c:pt>
                <c:pt idx="4">
                  <c:v>266</c:v>
                </c:pt>
                <c:pt idx="5">
                  <c:v>220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1.000000"/>
      </c:valAx>
      <c:spPr>
        <a:noFill/>
      </c:spPr>
    </c:plotArea>
    <c:legend>
      <c:legendPos val="b"/>
      <c:layout>
        <c:manualLayout>
          <c:xMode val="edge"/>
          <c:yMode val="edge"/>
          <c:x val="0.030341"/>
          <c:y val="0.938201"/>
          <c:w val="0.947401"/>
          <c:h val="0.061799"/>
        </c:manualLayout>
      </c:layout>
      <c:overlay val="0"/>
      <c:spPr bwMode="auto"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 bwMode="auto">
    <a:xfrm rot="0"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1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729608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0511468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563854306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003469431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91103252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2409108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0A54EA-23F9-6A39-5DA4-7D5BF5554E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34324A-644F-212D-3A77-00E668D607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532457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251870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37356374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14</a:t>
            </a:fld>
            <a:endParaRPr 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A6E9A9-FD82-AE20-6B07-3FE2B27EA8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DC2B71-DFA2-64A0-F05F-9312FE0CB7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84A14E-6AA5-B62B-56D1-146703FD57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CC360B-A31F-65A2-0992-E95C3CB788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39EA11-18C5-1360-4D04-D88B45F03D6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15E3F7-3734-BABB-338D-6AAC8DED6D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0F43FF-12B9-3185-0616-736F6F3F33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472847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1652301558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1358499941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1021856541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9055436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212361405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87874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73761581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5384205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9</a:t>
            </a:fld>
            <a:endParaRPr lang="ru-RU"/>
          </a:p>
        </p:txBody>
      </p:sp>
      <p:sp>
        <p:nvSpPr>
          <p:cNvPr id="545892651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031156101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496422757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500882623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550177898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886945388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74286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16713540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558457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6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540692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11748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72790860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7425026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452676510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662927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75747776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5189866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41475041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3279112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881370103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227549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88687172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66502144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75044189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57043963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50284415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4405093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725483806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3983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110588414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6474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63766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50976070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898073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9234606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197199856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5911223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03366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371790872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754342521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3062688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60540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194420037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9593629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868807408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758987062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762635447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409778509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673391927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093505738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851325904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138335449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631240902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21927174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562352547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185672182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867429921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02969723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456670492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705434245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130115242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556831981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414989857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2334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173759566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5194140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70678759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36753880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76276016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2289344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77818143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43892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179783251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53041417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36446599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538750877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79942815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39339379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35228952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3787215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03052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5608655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702252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4892546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31223516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263773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06769531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3045054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35543730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895585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72230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4202677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178191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1923391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0944968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8356105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75997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40157549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87980911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23754048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20217431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12546813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75341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26838017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8550996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434349698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87536502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11865065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93581367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38353393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26042090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5886800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0577950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27732547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41301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95300741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80922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491177849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372419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7151041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7629101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49605709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91306541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6475069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7631512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27044775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79971176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281746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48346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2543918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4858899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8251149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6340129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376658504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8989630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2130165922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637321822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301108938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417124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132031670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151409618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83527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2133581414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90855635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85691280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92410250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76348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153077544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762495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804819133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3046629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55079652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4937957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673048732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215277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131830193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3972166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994758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1693113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32742518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32654229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4107614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2405312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2073544819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0210081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0509105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1966721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0184111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3434417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361969014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14532680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859672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45198188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67852798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73873016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192406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114219706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5963594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49583118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50318499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14755260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99880464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2765047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36937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23021196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7190556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11002357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1099546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8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3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3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735952" name="Скругленный прямоугольник 8"/>
          <p:cNvSpPr/>
          <p:nvPr/>
        </p:nvSpPr>
        <p:spPr bwMode="auto"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79678790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14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531260878" name="Заголовок 2"/>
          <p:cNvSpPr>
            <a:spLocks noGrp="1"/>
          </p:cNvSpPr>
          <p:nvPr>
            <p:ph type="title"/>
          </p:nvPr>
        </p:nvSpPr>
        <p:spPr bwMode="auto">
          <a:xfrm>
            <a:off x="622040" y="496888"/>
            <a:ext cx="4781233" cy="415925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3200" b="1" i="0">
                <a:solidFill>
                  <a:srgbClr val="520978"/>
                </a:solidFill>
                <a:latin typeface="Montserrat"/>
              </a:rPr>
              <a:t>ХРОНОГРАФ</a:t>
            </a:r>
            <a:endParaRPr lang="ru-RU" sz="2000">
              <a:solidFill>
                <a:schemeClr val="accent5"/>
              </a:solidFill>
            </a:endParaRPr>
          </a:p>
        </p:txBody>
      </p:sp>
      <p:sp>
        <p:nvSpPr>
          <p:cNvPr id="217215088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595433" y="1143695"/>
            <a:ext cx="4807840" cy="4717356"/>
          </a:xfrm>
        </p:spPr>
        <p:txBody>
          <a:bodyPr wrap="square"/>
          <a:lstStyle/>
          <a:p>
            <a:pPr marL="0" indent="0">
              <a:defRPr/>
              <a:spcAft>
                <a:spcPts val="200"/>
              </a:spcAft>
              <a:buNone/>
            </a:pPr>
            <a:r>
              <a:rPr sz="1500" b="1" i="0">
                <a:solidFill>
                  <a:srgbClr val="1C1D22"/>
                </a:solidFill>
                <a:latin typeface="Montserrat"/>
              </a:rPr>
              <a:t>Автоматизированный сервис поиска нарушений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200"/>
              </a:spcAft>
              <a:buNone/>
            </a:pPr>
            <a:r>
              <a:rPr sz="1500" b="1" i="0">
                <a:solidFill>
                  <a:srgbClr val="1C1D22"/>
                </a:solidFill>
                <a:latin typeface="Montserrat"/>
              </a:rPr>
              <a:t>на строительных площадках Москвы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200"/>
              </a:spcAft>
              <a:buNone/>
            </a:pPr>
            <a:r>
              <a:rPr sz="800" b="0" i="0">
                <a:solidFill>
                  <a:srgbClr val="1C1D22"/>
                </a:solidFill>
                <a:latin typeface="Montserrat"/>
              </a:rPr>
              <a:t/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200"/>
              </a:spcAft>
              <a:buNone/>
            </a:pPr>
            <a:r>
              <a:rPr sz="1300" b="1" i="0">
                <a:solidFill>
                  <a:srgbClr val="FF0053"/>
                </a:solidFill>
                <a:latin typeface="Montserrat"/>
              </a:rPr>
              <a:t>Задача №7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200"/>
              </a:spcAft>
              <a:buNone/>
            </a:pPr>
            <a:r>
              <a:rPr sz="1200" b="0" i="0">
                <a:solidFill>
                  <a:srgbClr val="5A5C66"/>
                </a:solidFill>
                <a:latin typeface="Montserrat"/>
              </a:rPr>
              <a:t>Департамент градостроительной политики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200"/>
              </a:spcAft>
              <a:buNone/>
            </a:pPr>
            <a:r>
              <a:rPr sz="1200" b="0" i="0">
                <a:solidFill>
                  <a:srgbClr val="5A5C66"/>
                </a:solidFill>
                <a:latin typeface="Montserrat"/>
              </a:rPr>
              <a:t>города Москвы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200"/>
              </a:spcAft>
              <a:buNone/>
            </a:pPr>
            <a:r>
              <a:rPr sz="800" b="0" i="0">
                <a:solidFill>
                  <a:srgbClr val="1C1D22"/>
                </a:solidFill>
                <a:latin typeface="Montserrat"/>
              </a:rPr>
              <a:t/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200"/>
              </a:spcAft>
              <a:buNone/>
            </a:pPr>
            <a:r>
              <a:rPr sz="1300" b="1" i="0">
                <a:solidFill>
                  <a:srgbClr val="1C1D22"/>
                </a:solidFill>
                <a:latin typeface="Montserrat"/>
              </a:rPr>
              <a:t>Команда CyberCrew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200"/>
              </a:spcAft>
              <a:buNone/>
            </a:pPr>
            <a:r>
              <a:rPr sz="1200" b="0" i="0">
                <a:solidFill>
                  <a:srgbClr val="5A5C66"/>
                </a:solidFill>
                <a:latin typeface="Montserrat"/>
              </a:rPr>
              <a:t>Капитан: Сафин Аскар Айдарович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200"/>
              </a:spcAft>
              <a:buNone/>
            </a:pPr>
            <a:r>
              <a:rPr sz="1200" b="0" i="0">
                <a:solidFill>
                  <a:srgbClr val="5A5C66"/>
                </a:solidFill>
                <a:latin typeface="Montserrat"/>
              </a:rPr>
              <a:t>github.com/acmtco/ISMC</a:t>
            </a:r>
            <a:endParaRPr lang="ru-RU">
              <a:solidFill>
                <a:schemeClr val="tx1"/>
              </a:solidFill>
            </a:endParaRPr>
          </a:p>
        </p:txBody>
      </p:sp>
      <p:pic>
        <p:nvPicPr>
          <p:cNvPr id="1579678791" name="Picture 1579678790" descr="t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051560"/>
            <a:ext cx="5486400" cy="4754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324433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6281002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28501503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58545193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276817126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 wrap="square">
            <a:normAutofit/>
          </a:bodyPr>
          <a:lstStyle/>
          <a:p>
            <a:pPr marL="0" indent="0">
              <a:defRPr/>
              <a:spcAft>
                <a:spcPts val="1200"/>
              </a:spcAft>
              <a:buNone/>
            </a:pPr>
            <a:r>
              <a:rPr lang="ru-RU" sz="1300" b="0" i="0">
                <a:solidFill>
                  <a:srgbClr val="1C1D22"/>
                </a:solidFill>
                <a:latin typeface="Montserrat"/>
              </a:rPr>
              <a:t>Контроль стройки идёт вручную: прораб просматривает камеры глазами, сверяет увиденное с графиком и звонит подрядчику.</a:t>
            </a:r>
            <a:endParaRPr/>
          </a:p>
          <a:p>
            <a:pPr marL="0" indent="0">
              <a:defRPr/>
              <a:spcAft>
                <a:spcPts val="1200"/>
              </a:spcAft>
              <a:buNone/>
            </a:pPr>
            <a:r>
              <a:rPr lang="ru-RU" sz="1300" b="0" i="0">
                <a:solidFill>
                  <a:srgbClr val="1C1D22"/>
                </a:solidFill>
                <a:latin typeface="Montserrat"/>
              </a:rPr>
              <a:t>На десятках площадок это физически невозможно. Отставание вскрывается тогда, когда исправлять его уже дорого.</a:t>
            </a:r>
            <a:endParaRPr/>
          </a:p>
          <a:p>
            <a:pPr marL="0" indent="0">
              <a:defRPr/>
              <a:spcAft>
                <a:spcPts val="1200"/>
              </a:spcAft>
              <a:buNone/>
            </a:pPr>
            <a:r>
              <a:rPr lang="ru-RU" sz="1300" b="0" i="0">
                <a:solidFill>
                  <a:srgbClr val="1C1D22"/>
                </a:solidFill>
                <a:latin typeface="Montserrat"/>
              </a:rPr>
              <a:t>При этом снимки с камер уже содержат объективный ответ: какая техника на объекте, где она стоит и работает ли она. Их просто никто не читает машинно.</a:t>
            </a:r>
            <a:endParaRPr/>
          </a:p>
        </p:txBody>
      </p:sp>
      <p:sp>
        <p:nvSpPr>
          <p:cNvPr id="310169977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 wrap="square">
            <a:normAutofit/>
          </a:bodyPr>
          <a:lstStyle/>
          <a:p>
            <a:pPr marL="0" indent="0">
              <a:defRPr/>
              <a:spcAft>
                <a:spcPts val="1200"/>
              </a:spcAft>
              <a:buNone/>
            </a:pPr>
            <a:r>
              <a:rPr lang="ru-RU" sz="1300" b="0" i="0">
                <a:solidFill>
                  <a:srgbClr val="1C1D22"/>
                </a:solidFill>
                <a:latin typeface="Montserrat"/>
              </a:rPr>
              <a:t>Мы переводим снимки в машино-часы — ту же единицу, в которой написан календарный график и смета.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  <a:p>
            <a:pPr marL="0" indent="0">
              <a:defRPr/>
              <a:spcAft>
                <a:spcPts val="1200"/>
              </a:spcAft>
              <a:buNone/>
            </a:pPr>
            <a:r>
              <a:rPr lang="ru-RU" sz="1300" b="0" i="0">
                <a:solidFill>
                  <a:srgbClr val="1C1D22"/>
                </a:solidFill>
                <a:latin typeface="Montserrat"/>
              </a:rPr>
              <a:t>Сравнивается не «техника есть или её нет», а план и факт в одних единицах, с накопительным итогом.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  <a:p>
            <a:pPr marL="0" indent="0">
              <a:defRPr/>
              <a:spcAft>
                <a:spcPts val="1200"/>
              </a:spcAft>
              <a:buNone/>
            </a:pPr>
            <a:r>
              <a:rPr lang="ru-RU" sz="1300" b="0" i="0">
                <a:solidFill>
                  <a:srgbClr val="1C1D22"/>
                </a:solidFill>
                <a:latin typeface="Montserrat"/>
              </a:rPr>
              <a:t>Отсюда сразу следуют индекс выполнения по срокам, прогноз даты завершения и ответ на вопрос «сколько техники добавить, чтобы успеть».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</p:txBody>
      </p:sp>
      <p:sp>
        <p:nvSpPr>
          <p:cNvPr id="11378476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lang="ru-RU" sz="1600" b="1" i="0">
                <a:solidFill>
                  <a:srgbClr val="FFFFFF"/>
                </a:solidFill>
                <a:latin typeface="Montserrat"/>
              </a:rPr>
              <a:t>ЗАДАЧА И РЕШЕНИЕ</a:t>
            </a:r>
            <a:endParaRPr/>
          </a:p>
        </p:txBody>
      </p:sp>
      <p:sp>
        <p:nvSpPr>
          <p:cNvPr id="1580416656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defRPr/>
              <a:spcAft>
                <a:spcPts val="400"/>
              </a:spcAft>
              <a:buNone/>
            </a:pPr>
            <a:r>
              <a:rPr lang="ru-RU" sz="1700" b="1" i="0">
                <a:solidFill>
                  <a:srgbClr val="520978"/>
                </a:solidFill>
                <a:latin typeface="Montserrat"/>
              </a:rPr>
              <a:t>Что нужно заказчику</a:t>
            </a:r>
            <a:endParaRPr/>
          </a:p>
        </p:txBody>
      </p:sp>
      <p:sp>
        <p:nvSpPr>
          <p:cNvPr id="923865578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defRPr/>
              <a:spcAft>
                <a:spcPts val="400"/>
              </a:spcAft>
              <a:buNone/>
            </a:pPr>
            <a:r>
              <a:rPr lang="ru-RU" sz="1700" b="1" i="0">
                <a:solidFill>
                  <a:srgbClr val="520978"/>
                </a:solidFill>
                <a:latin typeface="Montserrat"/>
              </a:rPr>
              <a:t>Что делает Хронограф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654718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70528410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16175452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463778871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728667246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96089431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49279999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945615659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 marL="0" indent="0">
              <a:defRPr/>
              <a:spcAft>
                <a:spcPts val="300"/>
              </a:spcAft>
              <a:buNone/>
            </a:pPr>
            <a:r>
              <a:rPr sz="1700" b="1" i="0">
                <a:solidFill>
                  <a:srgbClr val="520978"/>
                </a:solidFill>
                <a:latin typeface="Montserrat"/>
              </a:rPr>
              <a:t>Путь одного кадра</a:t>
            </a:r>
            <a:endParaRPr lang="ru-RU" sz="3600" b="1">
              <a:solidFill>
                <a:schemeClr val="tx1"/>
              </a:solidFill>
            </a:endParaRPr>
          </a:p>
          <a:p>
            <a:pPr algn="l" marL="0" indent="0">
              <a:defRPr/>
              <a:spcAft>
                <a:spcPts val="300"/>
              </a:spcAft>
              <a:buNone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/>
            </a:r>
            <a:endParaRPr lang="ru-RU" sz="3600" b="1">
              <a:solidFill>
                <a:schemeClr val="tx1"/>
              </a:solidFill>
            </a:endParaRPr>
          </a:p>
          <a:p>
            <a:pPr algn="l" marL="0" indent="0">
              <a:defRPr/>
              <a:spcAft>
                <a:spcPts val="300"/>
              </a:spcAft>
              <a:buNone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Снимки приходят редко — раз в 10–20 минут. Это не видеопоток, а именно то, что реально отдают строительные камеры.</a:t>
            </a:r>
            <a:endParaRPr lang="ru-RU" sz="3600" b="1">
              <a:solidFill>
                <a:schemeClr val="tx1"/>
              </a:solidFill>
            </a:endParaRPr>
          </a:p>
          <a:p>
            <a:pPr algn="l" marL="0" indent="0">
              <a:defRPr/>
              <a:spcAft>
                <a:spcPts val="300"/>
              </a:spcAft>
              <a:buNone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/>
            </a:r>
            <a:endParaRPr lang="ru-RU" sz="3600" b="1">
              <a:solidFill>
                <a:schemeClr val="tx1"/>
              </a:solidFill>
            </a:endParaRPr>
          </a:p>
          <a:p>
            <a:pPr algn="l" marL="0" indent="0">
              <a:defRPr/>
              <a:spcAft>
                <a:spcPts val="300"/>
              </a:spcAft>
              <a:buNone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Каждый кадр «отвечает» за интервал до следующего, поэтому из редких снимков складываются корректные суточные часы.</a:t>
            </a:r>
            <a:endParaRPr lang="ru-RU" sz="3600" b="1">
              <a:solidFill>
                <a:schemeClr val="tx1"/>
              </a:solidFill>
            </a:endParaRPr>
          </a:p>
          <a:p>
            <a:pPr algn="l" marL="0" indent="0">
              <a:defRPr/>
              <a:spcAft>
                <a:spcPts val="300"/>
              </a:spcAft>
              <a:buNone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/>
            </a:r>
            <a:endParaRPr lang="ru-RU" sz="3600" b="1">
              <a:solidFill>
                <a:schemeClr val="tx1"/>
              </a:solidFill>
            </a:endParaRPr>
          </a:p>
          <a:p>
            <a:pPr algn="l" marL="0" indent="0">
              <a:defRPr/>
              <a:spcAft>
                <a:spcPts val="300"/>
              </a:spcAft>
              <a:buNone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Припаркованная техника и нераспознанное состояние в часы не засчитываются вовсе: лучше недосчитать, чем приписать.</a:t>
            </a:r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1582676577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300" b="1" i="0">
                <a:solidFill>
                  <a:srgbClr val="1C1D22"/>
                </a:solidFill>
                <a:latin typeface="Montserrat"/>
              </a:rPr>
              <a:t>1.   Оценка качества кадра: размытие, ночь, залепленный объектив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870948873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300" b="1" i="0">
                <a:solidFill>
                  <a:srgbClr val="1C1D22"/>
                </a:solidFill>
                <a:latin typeface="Montserrat"/>
              </a:rPr>
              <a:t>2.   Детекция техники: YOLO11, двенадцать классов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13107808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300" b="1" i="0">
                <a:solidFill>
                  <a:srgbClr val="1C1D22"/>
                </a:solidFill>
                <a:latin typeface="Montserrat"/>
              </a:rPr>
              <a:t>3.   Трекинг: BoT-SORT и собственная склейка разрывов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388955168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300" b="1" i="0">
                <a:solidFill>
                  <a:srgbClr val="1C1D22"/>
                </a:solidFill>
                <a:latin typeface="Montserrat"/>
              </a:rPr>
              <a:t>4.   Привязка к зоне работ по точке опоры техники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39935779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300" b="1" i="0">
                <a:solidFill>
                  <a:srgbClr val="1C1D22"/>
                </a:solidFill>
                <a:latin typeface="Montserrat"/>
              </a:rPr>
              <a:t>5.   Состояние: работает, простаивает или стоит на приколе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18333633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5955900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КАК УСТРОЕНО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822618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31703271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19</a:t>
            </a:fld>
            <a:endParaRPr lang="ru-RU">
              <a:solidFill>
                <a:schemeClr val="accent5"/>
              </a:solidFill>
            </a:endParaRPr>
          </a:p>
        </p:txBody>
      </p:sp>
      <p:pic>
        <p:nvPicPr>
          <p:cNvPr id="769108831" name="Рисунок 2" descr="d2.jp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35" b="35"/>
          <a:stretch>
            <a:fillRect/>
          </a:stretch>
        </p:blipFill>
        <p:spPr/>
      </p:pic>
      <p:pic>
        <p:nvPicPr>
          <p:cNvPr id="1671859735" name="Рисунок 3" descr="d3.jpg"/>
          <p:cNvPicPr>
            <a:picLocks noGrp="1" noChangeAspect="1"/>
          </p:cNvPicPr>
          <p:nvPr>
            <p:ph type="pic" sz="quarter" idx="11"/>
          </p:nvPr>
        </p:nvPicPr>
        <p:blipFill>
          <a:blip r:embed="rId5"/>
          <a:srcRect l="79" r="79"/>
          <a:stretch>
            <a:fillRect/>
          </a:stretch>
        </p:blipFill>
        <p:spPr/>
      </p:pic>
      <p:sp>
        <p:nvSpPr>
          <p:cNvPr id="1821143780" name="Текст 5"/>
          <p:cNvSpPr>
            <a:spLocks noGrp="1"/>
          </p:cNvSpPr>
          <p:nvPr>
            <p:ph type="body" sz="quarter" idx="14"/>
          </p:nvPr>
        </p:nvSpPr>
        <p:spPr bwMode="auto"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300" b="1" i="0">
                <a:solidFill>
                  <a:srgbClr val="520978"/>
                </a:solidFill>
                <a:latin typeface="Montserrat"/>
              </a:rPr>
              <a:t>YOLO11n, дообучен на открытом наборе: 223 снимка, один класс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400"/>
              </a:spcAft>
              <a:buNone/>
            </a:pPr>
            <a:r>
              <a:rPr sz="1300" b="1" i="0">
                <a:solidFill>
                  <a:srgbClr val="FF0053"/>
                </a:solidFill>
                <a:latin typeface="Montserrat"/>
              </a:rPr>
              <a:t>mAP@50 = 0,995 на отложенной выборке этого набора.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400"/>
              </a:spcAft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На фотографиях Департамента из 31 срабатывания только 3 дают рамку разумного размера. Метрика меряет модель на её же данных, а не переносимость.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4415719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2775523" cy="37613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ОБНАРУЖЕНИЕ</a:t>
            </a:r>
            <a:endParaRPr lang="ru-RU"/>
          </a:p>
        </p:txBody>
      </p:sp>
      <p:pic>
        <p:nvPicPr>
          <p:cNvPr id="1821143781" name="Picture 1821143780" descr="d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429000"/>
            <a:ext cx="6803136" cy="2651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276415" name="Скругленный прямоугольник 22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5449778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2001159143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1615961" y="1428776"/>
            <a:ext cx="3866856" cy="42362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Импорт графика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232986344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615964" y="1996388"/>
            <a:ext cx="3866856" cy="672075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XLSX или MS Project. Колонки распознаются по словарю синонимов: «наименование работ», «объём», «захватка».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03061334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1596604" y="3032761"/>
            <a:ext cx="3866856" cy="403756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Плановые часы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83999960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1596604" y="3580500"/>
            <a:ext cx="3866856" cy="672075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Берутся из графика напрямую, а если их там нет — выводятся из объёма работ и норм выработки.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50951588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1596604" y="4616873"/>
            <a:ext cx="3866856" cy="403913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Фактические часы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13244834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596604" y="5164612"/>
            <a:ext cx="3866856" cy="672075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Суточный итог по каждой зоне и классу техники, собранный из кадров.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61630428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7289068" y="1428776"/>
            <a:ext cx="3866856" cy="42362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Ресурсный отпечаток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921955234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7289071" y="1996388"/>
            <a:ext cx="3866856" cy="672075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Для котлована: обязателен экскаватор 1–2, самосвалы 2–5, запрещены башенный кран и бетононасос.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98015504" name="Текст 9"/>
          <p:cNvSpPr>
            <a:spLocks noGrp="1"/>
          </p:cNvSpPr>
          <p:nvPr>
            <p:ph type="body" sz="quarter" idx="45"/>
          </p:nvPr>
        </p:nvSpPr>
        <p:spPr bwMode="auto">
          <a:xfrm>
            <a:off x="7269712" y="3032761"/>
            <a:ext cx="3866856" cy="403756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Оценка похожести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689937647" name="Текст 10"/>
          <p:cNvSpPr>
            <a:spLocks noGrp="1"/>
          </p:cNvSpPr>
          <p:nvPr>
            <p:ph type="body" sz="quarter" idx="46"/>
          </p:nvPr>
        </p:nvSpPr>
        <p:spPr bwMode="auto">
          <a:xfrm>
            <a:off x="7269712" y="3580500"/>
            <a:ext cx="3866856" cy="672075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match_score = 0,55 × покрытие + 0,25 × ритм + 0,20 × (1 − избыток). Веса — в конфигурации, не в коде.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13247766" name="Текст 11"/>
          <p:cNvSpPr>
            <a:spLocks noGrp="1"/>
          </p:cNvSpPr>
          <p:nvPr>
            <p:ph type="body" sz="quarter" idx="47"/>
          </p:nvPr>
        </p:nvSpPr>
        <p:spPr bwMode="auto">
          <a:xfrm>
            <a:off x="7269712" y="4616873"/>
            <a:ext cx="3866856" cy="403913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Отклонение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346032543" name="Текст 12"/>
          <p:cNvSpPr>
            <a:spLocks noGrp="1"/>
          </p:cNvSpPr>
          <p:nvPr>
            <p:ph type="body" sz="quarter" idx="48"/>
          </p:nvPr>
        </p:nvSpPr>
        <p:spPr bwMode="auto">
          <a:xfrm>
            <a:off x="7269712" y="5164612"/>
            <a:ext cx="3866856" cy="672075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Карточка с числами плана и факта, кадрами-уликами, прогнозом и формулировкой для прораба.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0693818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СВЕРКА С ГРАФИКОМ</a:t>
            </a:r>
            <a:endParaRPr lang="ru-RU"/>
          </a:p>
        </p:txBody>
      </p:sp>
      <p:sp>
        <p:nvSpPr>
          <p:cNvPr id="738506086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394052"/>
            <a:ext cx="771003" cy="42362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01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35443755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501557" y="2998036"/>
            <a:ext cx="771003" cy="403756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02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826549208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01557" y="4582148"/>
            <a:ext cx="771003" cy="403913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03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009444343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6194020" y="1394052"/>
            <a:ext cx="771003" cy="42362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866154418" name="Текст 18"/>
          <p:cNvSpPr>
            <a:spLocks noGrp="1"/>
          </p:cNvSpPr>
          <p:nvPr>
            <p:ph type="body" sz="quarter" idx="53"/>
          </p:nvPr>
        </p:nvSpPr>
        <p:spPr bwMode="auto">
          <a:xfrm>
            <a:off x="6174664" y="2998036"/>
            <a:ext cx="771003" cy="403756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05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243935615" name="Текст 19"/>
          <p:cNvSpPr>
            <a:spLocks noGrp="1"/>
          </p:cNvSpPr>
          <p:nvPr>
            <p:ph type="body" sz="quarter" idx="54"/>
          </p:nvPr>
        </p:nvSpPr>
        <p:spPr bwMode="auto">
          <a:xfrm>
            <a:off x="6174664" y="4582148"/>
            <a:ext cx="771003" cy="403913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06</a:t>
            </a: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276415" name="Скругленный прямоугольник 22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5449778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2001159143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1615961" y="1428776"/>
            <a:ext cx="3866856" cy="42362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Низкое доверие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232986344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615964" y="1996388"/>
            <a:ext cx="3866856" cy="672075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Данных за сутки мало или качество кадров низкое. Отклонение не формируется вовсе.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03061334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1596604" y="3032761"/>
            <a:ext cx="3866856" cy="403756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Ресурсный дефицит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83999960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1596604" y="3580500"/>
            <a:ext cx="3866856" cy="672075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Факт ниже 70 % плана два и более суток подряд. Темп работ падает.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50951588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1596604" y="4616873"/>
            <a:ext cx="3866856" cy="403913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Простой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13244834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596604" y="5164612"/>
            <a:ext cx="3866856" cy="672075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Техника на объекте есть, но коэффициент использования не выше 0,5.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61630428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7289068" y="1428776"/>
            <a:ext cx="3866856" cy="42362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Несоответствие фронта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921955234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7289071" y="1996388"/>
            <a:ext cx="3866856" cy="672075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Состав техники не совпадает с этапом графика: работают не то, что по плану.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98015504" name="Текст 9"/>
          <p:cNvSpPr>
            <a:spLocks noGrp="1"/>
          </p:cNvSpPr>
          <p:nvPr>
            <p:ph type="body" sz="quarter" idx="45"/>
          </p:nvPr>
        </p:nvSpPr>
        <p:spPr bwMode="auto">
          <a:xfrm>
            <a:off x="7269712" y="3032761"/>
            <a:ext cx="3866856" cy="403756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Тишина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689937647" name="Текст 10"/>
          <p:cNvSpPr>
            <a:spLocks noGrp="1"/>
          </p:cNvSpPr>
          <p:nvPr>
            <p:ph type="body" sz="quarter" idx="46"/>
          </p:nvPr>
        </p:nvSpPr>
        <p:spPr bwMode="auto">
          <a:xfrm>
            <a:off x="7269712" y="3580500"/>
            <a:ext cx="3866856" cy="672075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Технику не зафиксировали два и более суток при хорошем покрытии кадрами.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13247766" name="Текст 11"/>
          <p:cNvSpPr>
            <a:spLocks noGrp="1"/>
          </p:cNvSpPr>
          <p:nvPr>
            <p:ph type="body" sz="quarter" idx="47"/>
          </p:nvPr>
        </p:nvSpPr>
        <p:spPr bwMode="auto">
          <a:xfrm>
            <a:off x="7269712" y="4616873"/>
            <a:ext cx="3866856" cy="403913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Приоритет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346032543" name="Текст 12"/>
          <p:cNvSpPr>
            <a:spLocks noGrp="1"/>
          </p:cNvSpPr>
          <p:nvPr>
            <p:ph type="body" sz="quarter" idx="48"/>
          </p:nvPr>
        </p:nvSpPr>
        <p:spPr bwMode="auto">
          <a:xfrm>
            <a:off x="7269712" y="5164612"/>
            <a:ext cx="3866856" cy="672075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При конфликте: Р0, затем Р4, Р1, Р3, Р2. Один явный диагноз на сутки честнее нескольких противоречащих.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0693818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ОТКЛОНЕНИЯ</a:t>
            </a:r>
            <a:endParaRPr lang="ru-RU"/>
          </a:p>
        </p:txBody>
      </p:sp>
      <p:sp>
        <p:nvSpPr>
          <p:cNvPr id="738506086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394052"/>
            <a:ext cx="771003" cy="42362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Р0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35443755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501557" y="2998036"/>
            <a:ext cx="771003" cy="403756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Р1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826549208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01557" y="4582148"/>
            <a:ext cx="771003" cy="403913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Р2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009444343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6194020" y="1394052"/>
            <a:ext cx="771003" cy="42362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Р3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866154418" name="Текст 18"/>
          <p:cNvSpPr>
            <a:spLocks noGrp="1"/>
          </p:cNvSpPr>
          <p:nvPr>
            <p:ph type="body" sz="quarter" idx="53"/>
          </p:nvPr>
        </p:nvSpPr>
        <p:spPr bwMode="auto">
          <a:xfrm>
            <a:off x="6174664" y="2998036"/>
            <a:ext cx="771003" cy="403756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Р4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243935615" name="Текст 19"/>
          <p:cNvSpPr>
            <a:spLocks noGrp="1"/>
          </p:cNvSpPr>
          <p:nvPr>
            <p:ph type="body" sz="quarter" idx="54"/>
          </p:nvPr>
        </p:nvSpPr>
        <p:spPr bwMode="auto">
          <a:xfrm>
            <a:off x="6174664" y="4582148"/>
            <a:ext cx="771003" cy="403913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/>
            </a: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090856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64439052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744233055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Montserrat"/>
              </a:rPr>
              <a:t>Каждое отклонение объяснимо</a:t>
            </a:r>
            <a:endParaRPr lang="ru-RU" sz="3600">
              <a:solidFill>
                <a:schemeClr val="bg1"/>
              </a:solidFill>
            </a:endParaRPr>
          </a:p>
        </p:txBody>
      </p:sp>
      <p:pic>
        <p:nvPicPr>
          <p:cNvPr id="998090857" name="Picture 998090856" descr="u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8" y="1556279"/>
            <a:ext cx="10789619" cy="37454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090856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64439052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744233055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Montserrat"/>
              </a:rPr>
              <a:t>План против факта и экономика</a:t>
            </a:r>
            <a:endParaRPr lang="ru-RU" sz="3600">
              <a:solidFill>
                <a:schemeClr val="bg1"/>
              </a:solidFill>
            </a:endParaRPr>
          </a:p>
        </p:txBody>
      </p:sp>
      <p:pic>
        <p:nvPicPr>
          <p:cNvPr id="998090857" name="Picture 998090856" descr="u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8" y="1556279"/>
            <a:ext cx="10789619" cy="37454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0973070" name="Скругленный прямоугольник 9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89396954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44082712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44933735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86805928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19100884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16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589578975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500" b="1" i="0">
                <a:solidFill>
                  <a:srgbClr val="520978"/>
                </a:solidFill>
                <a:latin typeface="Montserrat"/>
              </a:rPr>
              <a:t>Восприятие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504762436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 wrap="square"/>
          <a:lstStyle/>
          <a:p>
            <a:pPr marL="0" indent="0">
              <a:defRPr/>
              <a:spcAft>
                <a:spcPts val="3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Качество кадра, YOLO11, трекинг со склейкой разрывов, привязка к зонам, классификатор состояния.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3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/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300"/>
              </a:spcAft>
              <a:buNone/>
            </a:pPr>
            <a:r>
              <a:rPr sz="1100" b="0" i="1">
                <a:solidFill>
                  <a:srgbClr val="5A5C66"/>
                </a:solidFill>
                <a:latin typeface="Montserrat"/>
              </a:rPr>
              <a:t>Отдаёт поток детекций.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55165520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500" b="1" i="0">
                <a:solidFill>
                  <a:srgbClr val="520978"/>
                </a:solidFill>
                <a:latin typeface="Montserrat"/>
              </a:rPr>
              <a:t>Аналитика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470346574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 wrap="square"/>
          <a:lstStyle/>
          <a:p>
            <a:pPr marL="0" indent="0">
              <a:defRPr/>
              <a:spcAft>
                <a:spcPts val="3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Машино-часы, ресурсный отпечаток, пять правил, индекс выполнения, прогноз, экономика.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3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/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300"/>
              </a:spcAft>
              <a:buNone/>
            </a:pPr>
            <a:r>
              <a:rPr sz="1100" b="0" i="1">
                <a:solidFill>
                  <a:srgbClr val="5A5C66"/>
                </a:solidFill>
                <a:latin typeface="Montserrat"/>
              </a:rPr>
              <a:t>Отдаёт отклонения.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71408131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500" b="1" i="0">
                <a:solidFill>
                  <a:srgbClr val="520978"/>
                </a:solidFill>
                <a:latin typeface="Montserrat"/>
              </a:rPr>
              <a:t>Сервис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266595172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 wrap="square"/>
          <a:lstStyle/>
          <a:p>
            <a:pPr marL="0" indent="0">
              <a:defRPr/>
              <a:spcAft>
                <a:spcPts val="3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FastAPI, двенадцать эндпоинтов, планировщик опроса камер и ночного пересчёта, PDF-акты.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3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/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300"/>
              </a:spcAft>
              <a:buNone/>
            </a:pPr>
            <a:r>
              <a:rPr sz="1100" b="0" i="1">
                <a:solidFill>
                  <a:srgbClr val="5A5C66"/>
                </a:solidFill>
                <a:latin typeface="Montserrat"/>
              </a:rPr>
              <a:t>Отдаёт REST и поток событий.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56866908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500" b="1" i="0">
                <a:solidFill>
                  <a:srgbClr val="520978"/>
                </a:solidFill>
                <a:latin typeface="Montserrat"/>
              </a:rPr>
              <a:t>Интерфейс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594388217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 wrap="square"/>
          <a:lstStyle/>
          <a:p>
            <a:pPr marL="0" indent="0">
              <a:defRPr/>
              <a:spcAft>
                <a:spcPts val="3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React и TypeScript, пять экранов: настройка, площадка сейчас, график, отклонения, экономика.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3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/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300"/>
              </a:spcAft>
              <a:buNone/>
            </a:pPr>
            <a:r>
              <a:rPr sz="1100" b="0" i="1">
                <a:solidFill>
                  <a:srgbClr val="5A5C66"/>
                </a:solidFill>
                <a:latin typeface="Montserrat"/>
              </a:rPr>
              <a:t>Отдаёт то, что видит прораб.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346257705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АРХИТЕКТУРА</a:t>
            </a:r>
            <a:endParaRPr lang="ru-RU"/>
          </a:p>
        </p:txBody>
      </p:sp>
      <p:sp>
        <p:nvSpPr>
          <p:cNvPr id="571218468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01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599435587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02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710131927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03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302069095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536001" name="Скругленный прямоугольник 7"/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79374922" name="Скругленный прямоугольник 8"/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14691347" name="Скругленный прямоугольник 9"/>
          <p:cNvSpPr/>
          <p:nvPr/>
        </p:nvSpPr>
        <p:spPr bwMode="auto"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43598257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394445738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493074"/>
            <a:ext cx="2965634" cy="42362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500" b="1" i="0">
                <a:solidFill>
                  <a:srgbClr val="520978"/>
                </a:solidFill>
                <a:latin typeface="Montserrat"/>
              </a:rPr>
              <a:t>Машино-часы, а не факт присутствия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567636872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128740"/>
            <a:ext cx="2965633" cy="279792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Типовое решение отвечает «техника есть». Машино-час — единица графика и сметы, поэтому из него сразу следуют индекс выполнения, прогноз срыва и рубли простоя.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85201651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493074"/>
            <a:ext cx="3034896" cy="403756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500" b="1" i="0">
                <a:solidFill>
                  <a:srgbClr val="520978"/>
                </a:solidFill>
                <a:latin typeface="Montserrat"/>
              </a:rPr>
              <a:t>Отказ вместо догадки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08188046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128740"/>
            <a:ext cx="3034896" cy="279792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При плохом кадре или нехватке данных система не выдаёт отклонение вовсе, а помечает низкое доверие. Ложная тревога подрывает доверие прораба дороже, чем пропущенная.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388654931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493074"/>
            <a:ext cx="2945464" cy="403913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500" b="1" i="0">
                <a:solidFill>
                  <a:srgbClr val="520978"/>
                </a:solidFill>
                <a:latin typeface="Montserrat"/>
              </a:rPr>
              <a:t>Методика в конфигурации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439493923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128740"/>
            <a:ext cx="2945464" cy="279792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Ни одного порога в коде. Ресурсные отпечатки, веса и границы правил лежат отдельными файлами — их правит технолог, а не программист.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250212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335426"/>
            <a:ext cx="11331221" cy="37613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ЧЕМ ОТЛИЧАЕТСЯ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06812137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1311031" cy="601141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01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168780399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1311031" cy="572942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02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374963799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1311031" cy="573165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03</a:t>
            </a:r>
            <a:endParaRPr lang="ru-RU" sz="4400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233629" name="Скругленный прямоугольник 13"/>
          <p:cNvSpPr/>
          <p:nvPr/>
        </p:nvSpPr>
        <p:spPr bwMode="auto"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751016439" name="Скругленный прямоугольник 11"/>
          <p:cNvSpPr/>
          <p:nvPr/>
        </p:nvSpPr>
        <p:spPr bwMode="auto"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76022891" name="Скругленный прямоугольник 10"/>
          <p:cNvSpPr/>
          <p:nvPr/>
        </p:nvSpPr>
        <p:spPr bwMode="auto"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771479382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33545994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21</a:t>
            </a:fld>
            <a:endParaRPr lang="ru-RU"/>
          </a:p>
        </p:txBody>
      </p:sp>
      <p:sp>
        <p:nvSpPr>
          <p:cNvPr id="1036005631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500" b="1" i="0">
                <a:solidFill>
                  <a:srgbClr val="520978"/>
                </a:solidFill>
                <a:latin typeface="Montserrat"/>
              </a:rPr>
              <a:t>Машино-часы по классам техники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606297361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591637" y="1649793"/>
            <a:ext cx="4790314" cy="779602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Тридцать суток бенчмарка. Это те самые числа, которые сверяются с плановыми часами графика.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21967285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400" b="1" i="0">
                <a:solidFill>
                  <a:srgbClr val="FF0053"/>
                </a:solidFill>
                <a:latin typeface="Montserrat"/>
              </a:rPr>
              <a:t>129 752 ₽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1161696361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591637" y="3515862"/>
            <a:ext cx="4790314" cy="869021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Потери от простоя за период: часы простоя, умноженные на стоимость машино-часа по классу техники.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870472705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700" b="1" i="0">
                <a:solidFill>
                  <a:srgbClr val="520978"/>
                </a:solidFill>
                <a:latin typeface="Montserrat"/>
              </a:rPr>
              <a:t>35 кадров в сутки на камеру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562321069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591637" y="5471798"/>
            <a:ext cx="4790314" cy="848014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На три порядка меньше, чем у систем, разбирающих поток 25 кадров в секунду. Отсюда низкая стоимость эксплуатации.</a:t>
            </a:r>
            <a:endParaRPr lang="ru-RU">
              <a:solidFill>
                <a:schemeClr val="tx1"/>
              </a:solidFill>
            </a:endParaRPr>
          </a:p>
        </p:txBody>
      </p:sp>
      <p:graphicFrame>
        <p:nvGraphicFramePr>
          <p:cNvPr id="1930121742" name="Диаграмма 9"/>
          <p:cNvGraphicFramePr>
            <a:graphicFrameLocks xmlns:a="http://schemas.openxmlformats.org/drawingml/2006/main"/>
          </p:cNvGraphicFramePr>
          <p:nvPr/>
        </p:nvGraphicFramePr>
        <p:xfrm rot="0"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3792179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2763648" cy="37613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ЭКОНОМИКА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324433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6281002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28501503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58545193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276817126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 wrap="square">
            <a:normAutofit/>
          </a:bodyPr>
          <a:lstStyle/>
          <a:p>
            <a:pPr marL="0" indent="0">
              <a:defRPr/>
              <a:spcAft>
                <a:spcPts val="900"/>
              </a:spcAft>
              <a:buNone/>
            </a:pPr>
            <a:r>
              <a:rPr lang="ru-RU" sz="1300" b="0" i="0">
                <a:solidFill>
                  <a:srgbClr val="1C1D22"/>
                </a:solidFill>
                <a:latin typeface="Montserrat"/>
              </a:rPr>
              <a:t>206 автотестов проходят, линтер без замечаний</a:t>
            </a:r>
            <a:endParaRPr/>
          </a:p>
          <a:p>
            <a:pPr marL="0" indent="0">
              <a:defRPr/>
              <a:spcAft>
                <a:spcPts val="900"/>
              </a:spcAft>
              <a:buNone/>
            </a:pPr>
            <a:r>
              <a:rPr lang="ru-RU" sz="1300" b="0" i="0">
                <a:solidFill>
                  <a:srgbClr val="1C1D22"/>
                </a:solidFill>
                <a:latin typeface="Montserrat"/>
              </a:rPr>
              <a:t>Конвейер целиком: от кадра до карточки отклонения</a:t>
            </a:r>
            <a:endParaRPr/>
          </a:p>
          <a:p>
            <a:pPr marL="0" indent="0">
              <a:defRPr/>
              <a:spcAft>
                <a:spcPts val="900"/>
              </a:spcAft>
              <a:buNone/>
            </a:pPr>
            <a:r>
              <a:rPr lang="ru-RU" sz="1300" b="0" i="0">
                <a:solidFill>
                  <a:srgbClr val="1C1D22"/>
                </a:solidFill>
                <a:latin typeface="Montserrat"/>
              </a:rPr>
              <a:t>Правила Р3 и Р4 — точность и полнота 1,00 на бенчмарке</a:t>
            </a:r>
            <a:endParaRPr/>
          </a:p>
          <a:p>
            <a:pPr marL="0" indent="0">
              <a:defRPr/>
              <a:spcAft>
                <a:spcPts val="900"/>
              </a:spcAft>
              <a:buNone/>
            </a:pPr>
            <a:r>
              <a:rPr lang="ru-RU" sz="1300" b="0" i="0">
                <a:solidFill>
                  <a:srgbClr val="1C1D22"/>
                </a:solidFill>
                <a:latin typeface="Montserrat"/>
              </a:rPr>
              <a:t>Импорт графика из XLSX и MS Project</a:t>
            </a:r>
            <a:endParaRPr/>
          </a:p>
          <a:p>
            <a:pPr marL="0" indent="0">
              <a:defRPr/>
              <a:spcAft>
                <a:spcPts val="900"/>
              </a:spcAft>
              <a:buNone/>
            </a:pPr>
            <a:r>
              <a:rPr lang="ru-RU" sz="1300" b="0" i="0">
                <a:solidFill>
                  <a:srgbClr val="1C1D22"/>
                </a:solidFill>
                <a:latin typeface="Montserrat"/>
              </a:rPr>
              <a:t>Прогноз срыва срока и обратная задача</a:t>
            </a:r>
            <a:endParaRPr/>
          </a:p>
          <a:p>
            <a:pPr marL="0" indent="0">
              <a:defRPr/>
              <a:spcAft>
                <a:spcPts val="900"/>
              </a:spcAft>
              <a:buNone/>
            </a:pPr>
            <a:r>
              <a:rPr lang="ru-RU" sz="1300" b="0" i="0">
                <a:solidFill>
                  <a:srgbClr val="1C1D22"/>
                </a:solidFill>
                <a:latin typeface="Montserrat"/>
              </a:rPr>
              <a:t>Коэффициент использования и потери в рублях</a:t>
            </a:r>
            <a:endParaRPr/>
          </a:p>
          <a:p>
            <a:pPr marL="0" indent="0">
              <a:defRPr/>
              <a:spcAft>
                <a:spcPts val="900"/>
              </a:spcAft>
              <a:buNone/>
            </a:pPr>
            <a:r>
              <a:rPr lang="ru-RU" sz="1300" b="0" i="0">
                <a:solidFill>
                  <a:srgbClr val="1C1D22"/>
                </a:solidFill>
                <a:latin typeface="Montserrat"/>
              </a:rPr>
              <a:t>Выгрузка PDF-акта по отклонению</a:t>
            </a:r>
            <a:endParaRPr/>
          </a:p>
          <a:p>
            <a:pPr marL="0" indent="0">
              <a:defRPr/>
              <a:spcAft>
                <a:spcPts val="900"/>
              </a:spcAft>
              <a:buNone/>
            </a:pPr>
            <a:r>
              <a:rPr lang="ru-RU" sz="1300" b="0" i="0">
                <a:solidFill>
                  <a:srgbClr val="1C1D22"/>
                </a:solidFill>
                <a:latin typeface="Montserrat"/>
              </a:rPr>
              <a:t>Прототип поднимается одной командой</a:t>
            </a:r>
            <a:endParaRPr/>
          </a:p>
        </p:txBody>
      </p:sp>
      <p:sp>
        <p:nvSpPr>
          <p:cNvPr id="310169977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 wrap="square">
            <a:normAutofit/>
          </a:bodyPr>
          <a:lstStyle/>
          <a:p>
            <a:pPr marL="0" indent="0">
              <a:defRPr/>
              <a:spcAft>
                <a:spcPts val="900"/>
              </a:spcAft>
              <a:buNone/>
            </a:pPr>
            <a:r>
              <a:rPr lang="ru-RU" sz="1300" b="0" i="0">
                <a:solidFill>
                  <a:srgbClr val="1C1D22"/>
                </a:solidFill>
                <a:latin typeface="Montserrat"/>
              </a:rPr>
              <a:t>Детектор обучен на 223 снимках одного класса и на фотографиях Департамента даёт ложные срабатывания: нужна своя разметка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  <a:p>
            <a:pPr marL="0" indent="0">
              <a:defRPr/>
              <a:spcAft>
                <a:spcPts val="900"/>
              </a:spcAft>
              <a:buNone/>
            </a:pPr>
            <a:r>
              <a:rPr lang="ru-RU" sz="1300" b="0" i="0">
                <a:solidFill>
                  <a:srgbClr val="1C1D22"/>
                </a:solidFill>
                <a:latin typeface="Montserrat"/>
              </a:rPr>
              <a:t>Классификатор состояния завышает активность на реальных пикселях, из-за чего Р1 и Р2 срабатывают хуже Р3 и Р4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  <a:p>
            <a:pPr marL="0" indent="0">
              <a:defRPr/>
              <a:spcAft>
                <a:spcPts val="900"/>
              </a:spcAft>
              <a:buNone/>
            </a:pPr>
            <a:r>
              <a:rPr lang="ru-RU" sz="1300" b="0" i="0">
                <a:solidFill>
                  <a:srgbClr val="1C1D22"/>
                </a:solidFill>
                <a:latin typeface="Montserrat"/>
              </a:rPr>
              <a:t>Ресурсные отпечатки заданы для семи обобщённых видов работ, а в справочнике Департамента их 380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  <a:p>
            <a:pPr marL="0" indent="0">
              <a:defRPr/>
              <a:spcAft>
                <a:spcPts val="900"/>
              </a:spcAft>
              <a:buNone/>
            </a:pPr>
            <a:r>
              <a:rPr lang="ru-RU" sz="1300" b="0" i="0">
                <a:solidFill>
                  <a:srgbClr val="1C1D22"/>
                </a:solidFill>
                <a:latin typeface="Montserrat"/>
              </a:rPr>
              <a:t>Ставки машино-часа требуют сверки с проверяемым источником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  <a:p>
            <a:pPr marL="0" indent="0">
              <a:defRPr/>
              <a:spcAft>
                <a:spcPts val="900"/>
              </a:spcAft>
              <a:buNone/>
            </a:pPr>
            <a:r>
              <a:rPr lang="ru-RU" sz="1300" b="0" i="0">
                <a:solidFill>
                  <a:srgbClr val="1C1D22"/>
                </a:solidFill>
                <a:latin typeface="Montserrat"/>
              </a:rPr>
              <a:t/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  <a:p>
            <a:pPr marL="0" indent="0">
              <a:defRPr/>
              <a:spcAft>
                <a:spcPts val="900"/>
              </a:spcAft>
              <a:buNone/>
            </a:pPr>
            <a:r>
              <a:rPr lang="ru-RU" sz="1300" b="1" i="0">
                <a:solidFill>
                  <a:srgbClr val="FF0053"/>
                </a:solidFill>
                <a:latin typeface="Montserrat"/>
              </a:rPr>
              <a:t>Все числа берутся только из прогона скрипта оценки. Чего нет в отчёте — того мы не называем.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</p:txBody>
      </p:sp>
      <p:sp>
        <p:nvSpPr>
          <p:cNvPr id="11378476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lang="ru-RU" sz="1600" b="1" i="0">
                <a:solidFill>
                  <a:srgbClr val="FFFFFF"/>
                </a:solidFill>
                <a:latin typeface="Montserrat"/>
              </a:rPr>
              <a:t>ЧТО РАБОТАЕТ</a:t>
            </a:r>
            <a:endParaRPr/>
          </a:p>
        </p:txBody>
      </p:sp>
      <p:sp>
        <p:nvSpPr>
          <p:cNvPr id="1580416656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defRPr/>
              <a:spcAft>
                <a:spcPts val="400"/>
              </a:spcAft>
              <a:buNone/>
            </a:pPr>
            <a:r>
              <a:rPr lang="ru-RU" sz="1700" b="1" i="0">
                <a:solidFill>
                  <a:srgbClr val="520978"/>
                </a:solidFill>
                <a:latin typeface="Montserrat"/>
              </a:rPr>
              <a:t>Готово и проверено</a:t>
            </a:r>
            <a:endParaRPr/>
          </a:p>
        </p:txBody>
      </p:sp>
      <p:sp>
        <p:nvSpPr>
          <p:cNvPr id="923865578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defRPr/>
              <a:spcAft>
                <a:spcPts val="400"/>
              </a:spcAft>
              <a:buNone/>
            </a:pPr>
            <a:r>
              <a:rPr lang="ru-RU" sz="1700" b="1" i="0">
                <a:solidFill>
                  <a:srgbClr val="520978"/>
                </a:solidFill>
                <a:latin typeface="Montserrat"/>
              </a:rPr>
              <a:t>Предстоит до финала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276415" name="Скругленный прямоугольник 22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5449778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2001159143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1615961" y="1428776"/>
            <a:ext cx="3866856" cy="42362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Камера не должна двигаться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232986344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615964" y="1996388"/>
            <a:ext cx="3866856" cy="672075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Зоны заданы полигонами в пикселях. Сдвинулась камера — часы пойдут не в ту работу.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03061334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1596604" y="3032761"/>
            <a:ext cx="3866856" cy="403756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Угол 25–45°, высота 8–20 м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83999960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1596604" y="3580500"/>
            <a:ext cx="3866856" cy="672075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Съёмка сверху вниз разносит технику по кадру и убирает перекрытия.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50951588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1596604" y="4616873"/>
            <a:ext cx="3866856" cy="403913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Техника от 40 × 40 пикселей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13244834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596604" y="5164612"/>
            <a:ext cx="3866856" cy="672075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Для экскаватора при Full HD это дальность до 80–100 метров.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61630428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7289068" y="1428776"/>
            <a:ext cx="3866856" cy="42362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Интервал 10–20 минут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921955234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7289071" y="1996388"/>
            <a:ext cx="3866856" cy="672075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Чаще — рост стоимости без выигрыша. Реже — получасовая работа останется незамеченной.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98015504" name="Текст 9"/>
          <p:cNvSpPr>
            <a:spLocks noGrp="1"/>
          </p:cNvSpPr>
          <p:nvPr>
            <p:ph type="body" sz="quarter" idx="45"/>
          </p:nvPr>
        </p:nvSpPr>
        <p:spPr bwMode="auto">
          <a:xfrm>
            <a:off x="7269712" y="3032761"/>
            <a:ext cx="3866856" cy="403756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Отдельная камера на въезд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689937647" name="Текст 10"/>
          <p:cNvSpPr>
            <a:spLocks noGrp="1"/>
          </p:cNvSpPr>
          <p:nvPr>
            <p:ph type="body" sz="quarter" idx="46"/>
          </p:nvPr>
        </p:nvSpPr>
        <p:spPr bwMode="auto">
          <a:xfrm>
            <a:off x="7269712" y="3580500"/>
            <a:ext cx="3866856" cy="672075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Даёт подсчёт рейсов самосвалов — это ритм в ресурсном отпечатке.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13247766" name="Текст 11"/>
          <p:cNvSpPr>
            <a:spLocks noGrp="1"/>
          </p:cNvSpPr>
          <p:nvPr>
            <p:ph type="body" sz="quarter" idx="47"/>
          </p:nvPr>
        </p:nvSpPr>
        <p:spPr bwMode="auto">
          <a:xfrm>
            <a:off x="7269712" y="4616873"/>
            <a:ext cx="3866856" cy="403913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Подсветка и чистый объектив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346032543" name="Текст 12"/>
          <p:cNvSpPr>
            <a:spLocks noGrp="1"/>
          </p:cNvSpPr>
          <p:nvPr>
            <p:ph type="body" sz="quarter" idx="48"/>
          </p:nvPr>
        </p:nvSpPr>
        <p:spPr bwMode="auto">
          <a:xfrm>
            <a:off x="7269712" y="5164612"/>
            <a:ext cx="3866856" cy="672075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100" b="0" i="0">
                <a:solidFill>
                  <a:srgbClr val="1C1D22"/>
                </a:solidFill>
                <a:latin typeface="Montserrat"/>
              </a:rPr>
              <a:t>Без ИК ночная смена не попадёт в часы. Пыль система заметит сама, чистить надо руками.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0693818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УСТАНОВКА КАМЕР</a:t>
            </a:r>
            <a:endParaRPr lang="ru-RU"/>
          </a:p>
        </p:txBody>
      </p:sp>
      <p:sp>
        <p:nvSpPr>
          <p:cNvPr id="738506086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394052"/>
            <a:ext cx="771003" cy="42362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01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35443755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501557" y="2998036"/>
            <a:ext cx="771003" cy="403756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02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826549208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01557" y="4582148"/>
            <a:ext cx="771003" cy="403913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03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009444343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6194020" y="1394052"/>
            <a:ext cx="771003" cy="42362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866154418" name="Текст 18"/>
          <p:cNvSpPr>
            <a:spLocks noGrp="1"/>
          </p:cNvSpPr>
          <p:nvPr>
            <p:ph type="body" sz="quarter" idx="53"/>
          </p:nvPr>
        </p:nvSpPr>
        <p:spPr bwMode="auto">
          <a:xfrm>
            <a:off x="6174664" y="2998036"/>
            <a:ext cx="771003" cy="403756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05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243935615" name="Текст 19"/>
          <p:cNvSpPr>
            <a:spLocks noGrp="1"/>
          </p:cNvSpPr>
          <p:nvPr>
            <p:ph type="body" sz="quarter" idx="54"/>
          </p:nvPr>
        </p:nvSpPr>
        <p:spPr bwMode="auto">
          <a:xfrm>
            <a:off x="6174664" y="4582148"/>
            <a:ext cx="771003" cy="403913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06</a:t>
            </a: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653443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983917426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96819244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43179798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79419520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6591452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35585302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309984970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 marL="0" indent="0">
              <a:defRPr/>
              <a:spcAft>
                <a:spcPts val="300"/>
              </a:spcAft>
              <a:buNone/>
            </a:pPr>
            <a:r>
              <a:rPr sz="1600" b="1" i="0">
                <a:solidFill>
                  <a:srgbClr val="520978"/>
                </a:solidFill>
                <a:latin typeface="Montserrat"/>
              </a:rPr>
              <a:t>Ближайшее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300"/>
              </a:spcAft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/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300"/>
              </a:spcAft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Разметить снимки Департамента под все двенадцать классов, дообучить детектор и собрать свой проверочный набор с разной освещённостью, сезонностью и ракурсами.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557393163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 marL="0" indent="0">
              <a:defRPr/>
              <a:spcAft>
                <a:spcPts val="300"/>
              </a:spcAft>
              <a:buNone/>
            </a:pPr>
            <a:r>
              <a:rPr sz="1600" b="1" i="0">
                <a:solidFill>
                  <a:srgbClr val="520978"/>
                </a:solidFill>
                <a:latin typeface="Montserrat"/>
              </a:rPr>
              <a:t>Вглубь методики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300"/>
              </a:spcAft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/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300"/>
              </a:spcAft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Переложить ресурсные отпечатки на полный справочник работ Департамента: 380 позиций вместо семи обобщённых видов. Сверить нормы выработки с ЕНиР и ГЭСН.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80915369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 marL="0" indent="0">
              <a:defRPr/>
              <a:spcAft>
                <a:spcPts val="300"/>
              </a:spcAft>
              <a:buNone/>
            </a:pPr>
            <a:r>
              <a:rPr sz="1600" b="1" i="0">
                <a:solidFill>
                  <a:srgbClr val="520978"/>
                </a:solidFill>
                <a:latin typeface="Montserrat"/>
              </a:rPr>
              <a:t>Масштаб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300"/>
              </a:spcAft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/>
            </a:r>
            <a:endParaRPr lang="ru-RU">
              <a:solidFill>
                <a:schemeClr val="tx1"/>
              </a:solidFill>
            </a:endParaRPr>
          </a:p>
          <a:p>
            <a:pPr marL="0" indent="0">
              <a:defRPr/>
              <a:spcAft>
                <a:spcPts val="300"/>
              </a:spcAft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Объекты и камеры добавляются записями в справочнике, логика от их числа не зависит. Новые источники: фотофиксация с телефона, съёмка с БПЛА. Выгрузка отклонений в систему заказчика.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833536713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68633593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fill="norm" stroke="1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fill="norm" stroke="1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fill="norm" stroke="1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fill="norm" stroke="1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fill="norm" stroke="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fill="norm" stroke="1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fill="norm" stroke="1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fill="norm" stroke="1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fill="norm" stroke="1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695641693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fill="norm" stroke="1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fill="norm" stroke="1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fill="norm" stroke="1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fill="norm" stroke="1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fill="norm" stroke="1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fill="norm" stroke="1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fill="norm" stroke="1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2009651113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fill="norm" stroke="1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fill="norm" stroke="1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fill="norm" stroke="1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fill="norm" stroke="1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fill="norm" stroke="1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fill="norm" stroke="1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fill="norm" stroke="1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fill="norm" stroke="1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810204032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4373755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 wrap="square"/>
          <a:lstStyle/>
          <a:p>
            <a:pPr marL="0" indent="0">
              <a:defRPr/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ПЛАНЫ</a:t>
            </a:r>
            <a:endParaRPr lang="ru-RU"/>
          </a:p>
        </p:txBody>
      </p:sp>
      <p:cxnSp>
        <p:nvCxnSpPr>
          <p:cNvPr id="826916080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Хронограф — система мониторинга строительной площадки</dc:title>
  <dc:creator>CyberCrew</dc:creator>
  <cp:lastModifiedBy>CyberCrew</cp:lastModifiedBy>
  <cp:revision>96</cp:revision>
  <dcterms:created xsi:type="dcterms:W3CDTF">2023-05-15T07:36:23Z</dcterms:created>
  <dcterms:modified xsi:type="dcterms:W3CDTF">2026-09-29T17:41:59Z</dcterms:modified>
  <dc:subject>Задача №7, Лидеры цифровой трансформации 2026</dc:subject>
  <cp:category/>
  <dc:description/>
  <cp:keywords/>
</cp:coreProperties>
</file>